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9093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5B4380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607040" y="3291840"/>
            <a:ext cx="3657600" cy="3657600"/>
          </a:xfrm>
          <a:prstGeom prst="ellipse">
            <a:avLst/>
          </a:prstGeom>
          <a:solidFill>
            <a:srgbClr val="D4A24C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/home/claude/icons/pray_D4A2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943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217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ACADÊMICO · ARQUITETURA DE SOFTWARE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23317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LivyGod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621792" y="3520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Espiritualidade, comunidade e recomendações guiadas por IA em um único aplicativo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1792" y="4343400"/>
            <a:ext cx="2926080" cy="0"/>
          </a:xfrm>
          <a:prstGeom prst="line">
            <a:avLst/>
          </a:prstGeom>
          <a:noFill/>
          <a:ln w="254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621792" y="4617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1792" y="489204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Caio Cesar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Marlon Bartoli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Ferreira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206240" y="4617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206240" y="4892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Paiva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315200" y="4617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INSTITUIÇÃO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0" y="4892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· Ciência da Computação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21792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E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técnico para equipe de arquitetura e liderança de produto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DO PROJETO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41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e Escopo da Solução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F6F2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566928" cy="566928"/>
          </a:xfrm>
          <a:prstGeom prst="ellipse">
            <a:avLst/>
          </a:prstGeom>
          <a:solidFill>
            <a:srgbClr val="2B1B4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/home/claude/icons/warn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4884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208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41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4526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religiosas </a:t>
            </a:r>
            <a:r>
              <a:rPr lang="en-US" sz="14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encontram dificuldade para acessar, de forma centralizada, orações, versículos, cultos e conteúdos de sua fé.
</a:t>
            </a:r>
            <a:r>
              <a:rPr lang="en-US" sz="1400" b="1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em busca espiritual </a:t>
            </a:r>
            <a:r>
              <a:rPr lang="en-US" sz="14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têm um ambiente digital único para conhecer, comparar e se aprofundar em diferentes religiões e adequá-las à própria vida.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89320" y="1691640"/>
            <a:ext cx="5669280" cy="4434840"/>
          </a:xfrm>
          <a:prstGeom prst="roundRect">
            <a:avLst>
              <a:gd name="adj" fmla="val 1649"/>
            </a:avLst>
          </a:prstGeom>
          <a:solidFill>
            <a:srgbClr val="2B1B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309360" y="2011680"/>
            <a:ext cx="566928" cy="566928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/home/claude/icons/check_2B1B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14884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202082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 da Solução</a:t>
            </a:r>
            <a:endParaRPr lang="en-US" sz="1900" dirty="0"/>
          </a:p>
        </p:txBody>
      </p:sp>
      <p:pic>
        <p:nvPicPr>
          <p:cNvPr id="13" name="Image 2" descr="/home/claude/icons/robot_D4A2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75234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58000" y="266090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com IA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858000" y="295351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religião e sugestões personalizadas de ritos e passagens</a:t>
            </a:r>
            <a:endParaRPr lang="en-US" sz="1150" dirty="0"/>
          </a:p>
        </p:txBody>
      </p:sp>
      <p:pic>
        <p:nvPicPr>
          <p:cNvPr id="16" name="Image 3" descr="/home/claude/icons/book_D4A24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593592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58000" y="350215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Versículos e conteúdo diário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858000" y="37947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mensagens, podcasts e e-books de bem-estar religioso</a:t>
            </a:r>
            <a:endParaRPr lang="en-US" sz="1150" dirty="0"/>
          </a:p>
        </p:txBody>
      </p:sp>
      <p:pic>
        <p:nvPicPr>
          <p:cNvPr id="19" name="Image 4" descr="/home/claude/icons/broadcast_D4A24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4434840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58000" y="434340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de cultos e missas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6858000" y="463600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hospedagem de transmissões e encontros online</a:t>
            </a:r>
            <a:endParaRPr lang="en-US" sz="1150" dirty="0"/>
          </a:p>
        </p:txBody>
      </p:sp>
      <p:pic>
        <p:nvPicPr>
          <p:cNvPr id="22" name="Image 5" descr="/home/claude/icons/users_D4A24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5276088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858000" y="518464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 e eventos</a:t>
            </a:r>
            <a:endParaRPr lang="en-US" sz="1400" dirty="0"/>
          </a:p>
        </p:txBody>
      </p:sp>
      <p:sp>
        <p:nvSpPr>
          <p:cNvPr id="24" name="Text 16"/>
          <p:cNvSpPr/>
          <p:nvPr/>
        </p:nvSpPr>
        <p:spPr>
          <a:xfrm>
            <a:off x="6858000" y="547725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por religião, interação entre usuários e reserva em eventos</a:t>
            </a:r>
            <a:endParaRPr lang="en-US" sz="1150" dirty="0"/>
          </a:p>
        </p:txBody>
      </p:sp>
      <p:sp>
        <p:nvSpPr>
          <p:cNvPr id="25" name="Text 17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&amp; EXPERIÊNCIA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41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Funcionais e Fluxo Crítico do Usuário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B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REQUISITOS FUNCIONAIS (RF)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67128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6F2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2167128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463040" y="2304288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463040" y="2304288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14600" y="2167128"/>
            <a:ext cx="8915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em modo “facilitado” e “comum”, adaptável ao perfil do usuário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6F2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31520" y="2898648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463040" y="3035808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463040" y="3035808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14600" y="2898648"/>
            <a:ext cx="8915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escolhe sua religião na base do sistema (uma por conta)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630168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6F2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31520" y="3630168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#006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463040" y="3767328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463040" y="3767328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14600" y="3630168"/>
            <a:ext cx="8915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grupos para hospedar lives, áudios e encontros/eventos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361688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6F2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31520" y="4361688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#007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463040" y="4498848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5B43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463040" y="4498848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14600" y="4361688"/>
            <a:ext cx="8915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em eventos criados por grupos, com reserva de vaga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49469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B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CRÍTICO DO USUÁRIO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3035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2B1B4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0" descr="/home/claude/icons/mobile_D4A2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504688"/>
            <a:ext cx="365760" cy="36576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49808" y="592531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49808" y="62179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segura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3154680" y="5687568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1" name="Shape 28"/>
          <p:cNvSpPr/>
          <p:nvPr/>
        </p:nvSpPr>
        <p:spPr>
          <a:xfrm>
            <a:off x="3410712" y="53035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2B1B4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2" name="Image 1" descr="/home/claude/icons/users_D4A2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5504688"/>
            <a:ext cx="365760" cy="36576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3611880" y="592531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religião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3611880" y="62179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única na base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6016752" y="5687568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6" name="Shape 32"/>
          <p:cNvSpPr/>
          <p:nvPr/>
        </p:nvSpPr>
        <p:spPr>
          <a:xfrm>
            <a:off x="6272784" y="53035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2B1B4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7" name="Image 2" descr="/home/claude/icons/robot_D4A2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5504688"/>
            <a:ext cx="365760" cy="36576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473952" y="592531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IA</a:t>
            </a:r>
            <a:endParaRPr lang="en-US" sz="1300" dirty="0"/>
          </a:p>
        </p:txBody>
      </p:sp>
      <p:sp>
        <p:nvSpPr>
          <p:cNvPr id="39" name="Text 34"/>
          <p:cNvSpPr/>
          <p:nvPr/>
        </p:nvSpPr>
        <p:spPr>
          <a:xfrm>
            <a:off x="6473952" y="62179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ritos e passagens do dia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8878824" y="5687568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41" name="Shape 36"/>
          <p:cNvSpPr/>
          <p:nvPr/>
        </p:nvSpPr>
        <p:spPr>
          <a:xfrm>
            <a:off x="9134856" y="53035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2B1B4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2" name="Image 3" descr="/home/claude/icons/calendar_D4A24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6024" y="5504688"/>
            <a:ext cx="365760" cy="36576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9336024" y="592531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&amp; eventos</a:t>
            </a:r>
            <a:endParaRPr lang="en-US" sz="1300" dirty="0"/>
          </a:p>
        </p:txBody>
      </p:sp>
      <p:sp>
        <p:nvSpPr>
          <p:cNvPr id="44" name="Text 38"/>
          <p:cNvSpPr/>
          <p:nvPr/>
        </p:nvSpPr>
        <p:spPr>
          <a:xfrm>
            <a:off x="9336024" y="62179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 e reserva vaga</a:t>
            </a:r>
            <a:endParaRPr lang="en-US" sz="950" dirty="0"/>
          </a:p>
        </p:txBody>
      </p:sp>
      <p:sp>
        <p:nvSpPr>
          <p:cNvPr id="45" name="Text 39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DE SOFTWARE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41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Não Funcionais e Metas de Qualidade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4206240"/>
          </a:xfrm>
          <a:prstGeom prst="roundRect">
            <a:avLst>
              <a:gd name="adj" fmla="val 2308"/>
            </a:avLst>
          </a:prstGeom>
          <a:solidFill>
            <a:srgbClr val="F6F2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621792" cy="621792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/home/claude/icons/lo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24942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803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1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3511296"/>
            <a:ext cx="82296" cy="82296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1024128" y="3355848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via código enviado por SMS/WhatsApp (RNF #002)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4562856"/>
            <a:ext cx="82296" cy="82296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024128" y="4407408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 de login entregue em até 5 segundos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43400" y="1828800"/>
            <a:ext cx="3566160" cy="4206240"/>
          </a:xfrm>
          <a:prstGeom prst="roundRect">
            <a:avLst>
              <a:gd name="adj" fmla="val 2308"/>
            </a:avLst>
          </a:prstGeom>
          <a:solidFill>
            <a:srgbClr val="F6F2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4617720" y="2103120"/>
            <a:ext cx="621792" cy="621792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1" descr="/home/claude/icons/bol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2249424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17720" y="28803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1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4617720" y="3511296"/>
            <a:ext cx="82296" cy="82296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3"/>
          <p:cNvSpPr/>
          <p:nvPr/>
        </p:nvSpPr>
        <p:spPr>
          <a:xfrm>
            <a:off x="4818888" y="3355848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e recebimento de mensagens de chat em &lt; 2 segundos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617720" y="4562856"/>
            <a:ext cx="82296" cy="82296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5"/>
          <p:cNvSpPr/>
          <p:nvPr/>
        </p:nvSpPr>
        <p:spPr>
          <a:xfrm>
            <a:off x="4818888" y="4407408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da IA exibida imediatamente no 1º acesso do dia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138160" y="1828800"/>
            <a:ext cx="3566160" cy="4206240"/>
          </a:xfrm>
          <a:prstGeom prst="roundRect">
            <a:avLst>
              <a:gd name="adj" fmla="val 2308"/>
            </a:avLst>
          </a:prstGeom>
          <a:solidFill>
            <a:srgbClr val="F6F2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7"/>
          <p:cNvSpPr/>
          <p:nvPr/>
        </p:nvSpPr>
        <p:spPr>
          <a:xfrm>
            <a:off x="8412480" y="2103120"/>
            <a:ext cx="621792" cy="621792"/>
          </a:xfrm>
          <a:prstGeom prst="ellipse">
            <a:avLst/>
          </a:prstGeom>
          <a:solidFill>
            <a:srgbClr val="5B438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2" descr="/home/claude/icons/use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8784" y="2249424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412480" y="28803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1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Usabilidade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8412480" y="3511296"/>
            <a:ext cx="82296" cy="82296"/>
          </a:xfrm>
          <a:prstGeom prst="ellipse">
            <a:avLst/>
          </a:prstGeom>
          <a:solidFill>
            <a:srgbClr val="5B43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0"/>
          <p:cNvSpPr/>
          <p:nvPr/>
        </p:nvSpPr>
        <p:spPr>
          <a:xfrm>
            <a:off x="8613648" y="3355848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das funções acessíveis sem ajuda externa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8412480" y="4562856"/>
            <a:ext cx="82296" cy="82296"/>
          </a:xfrm>
          <a:prstGeom prst="ellipse">
            <a:avLst/>
          </a:prstGeom>
          <a:solidFill>
            <a:srgbClr val="5B43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2"/>
          <p:cNvSpPr/>
          <p:nvPr/>
        </p:nvSpPr>
        <p:spPr>
          <a:xfrm>
            <a:off x="8613648" y="4407408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Modos “facilitado” e “comum” validados com usuários reais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B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também recebe feedback do usuário sobre cada recomendação, permitindo melhoria contínua e gradual dos resultados sugeridos.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DE DADOS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41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de Dados — Modelo Conceitual (DER)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331720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5875">
            <a:solidFill>
              <a:srgbClr val="E4DEEF"/>
            </a:solidFill>
            <a:prstDash val="solid"/>
          </a:ln>
          <a:effectLst>
            <a:outerShdw blurRad="76200" dist="25400" dir="5400000" algn="bl" rotWithShape="0">
              <a:srgbClr val="44444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2B1B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2093976"/>
            <a:ext cx="2331720" cy="73152"/>
          </a:xfrm>
          <a:prstGeom prst="rect">
            <a:avLst/>
          </a:prstGeom>
          <a:solidFill>
            <a:srgbClr val="2B1B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49808" y="1783080"/>
            <a:ext cx="2112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68096" y="2221992"/>
            <a:ext cx="207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idUsuario (PK)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" y="2514600"/>
            <a:ext cx="207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idade, email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68096" y="2807208"/>
            <a:ext cx="207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sexualidade, senha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68096" y="3099816"/>
            <a:ext cx="207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idReligiao (FK)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60520" y="1783080"/>
            <a:ext cx="2331720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5875">
            <a:solidFill>
              <a:srgbClr val="E4DEEF"/>
            </a:solidFill>
            <a:prstDash val="solid"/>
          </a:ln>
          <a:effectLst>
            <a:outerShdw blurRad="76200" dist="25400" dir="5400000" algn="bl" rotWithShape="0">
              <a:srgbClr val="44444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160520" y="178308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5B43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160520" y="2093976"/>
            <a:ext cx="2331720" cy="73152"/>
          </a:xfrm>
          <a:prstGeom prst="rect">
            <a:avLst/>
          </a:prstGeom>
          <a:solidFill>
            <a:srgbClr val="5B43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270248" y="1783080"/>
            <a:ext cx="2112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Religião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288536" y="2221992"/>
            <a:ext cx="207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idReligiao (PK)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88536" y="2514600"/>
            <a:ext cx="207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origem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88536" y="2807208"/>
            <a:ext cx="207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88536" y="3099816"/>
            <a:ext cx="207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tipoConteudo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60520" y="4160520"/>
            <a:ext cx="2331720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5875">
            <a:solidFill>
              <a:srgbClr val="E4DEEF"/>
            </a:solidFill>
            <a:prstDash val="solid"/>
          </a:ln>
          <a:effectLst>
            <a:outerShdw blurRad="76200" dist="25400" dir="5400000" algn="bl" rotWithShape="0">
              <a:srgbClr val="44444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160520" y="416052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B886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4160520" y="4471416"/>
            <a:ext cx="2331720" cy="73152"/>
          </a:xfrm>
          <a:prstGeom prst="rect">
            <a:avLst/>
          </a:prstGeom>
          <a:solidFill>
            <a:srgbClr val="B886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270248" y="4160520"/>
            <a:ext cx="2112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288536" y="4599432"/>
            <a:ext cx="207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idGrupo (PK)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88536" y="4892040"/>
            <a:ext cx="207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nome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88536" y="5184648"/>
            <a:ext cx="207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idUsuario (FK)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88536" y="5477256"/>
            <a:ext cx="207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idReligiao (FK)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80960" y="2971800"/>
            <a:ext cx="2331720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5875">
            <a:solidFill>
              <a:srgbClr val="E4DEEF"/>
            </a:solidFill>
            <a:prstDash val="solid"/>
          </a:ln>
          <a:effectLst>
            <a:outerShdw blurRad="76200" dist="25400" dir="5400000" algn="bl" rotWithShape="0">
              <a:srgbClr val="44444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7680960" y="297180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B23A4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7680960" y="3282696"/>
            <a:ext cx="2331720" cy="73152"/>
          </a:xfrm>
          <a:prstGeom prst="rect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7790688" y="2971800"/>
            <a:ext cx="2112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808976" y="3410712"/>
            <a:ext cx="207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idEvento (PK)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808976" y="3703320"/>
            <a:ext cx="207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data, local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808976" y="3995928"/>
            <a:ext cx="207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808976" y="4288536"/>
            <a:ext cx="207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qtdUsuarios, idReligiao (FK)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971800" y="2148840"/>
            <a:ext cx="1188720" cy="0"/>
          </a:xfrm>
          <a:prstGeom prst="line">
            <a:avLst/>
          </a:prstGeom>
          <a:noFill/>
          <a:ln w="19050">
            <a:solidFill>
              <a:srgbClr val="6B64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3063240" y="178308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805940" y="3538728"/>
            <a:ext cx="0" cy="1453896"/>
          </a:xfrm>
          <a:prstGeom prst="line">
            <a:avLst/>
          </a:prstGeom>
          <a:noFill/>
          <a:ln w="19050">
            <a:solidFill>
              <a:srgbClr val="6B64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1805940" y="4992624"/>
            <a:ext cx="2354580" cy="0"/>
          </a:xfrm>
          <a:prstGeom prst="line">
            <a:avLst/>
          </a:prstGeom>
          <a:noFill/>
          <a:ln w="19050">
            <a:solidFill>
              <a:srgbClr val="6B64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1474470" y="471563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: 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647516" y="3803904"/>
            <a:ext cx="0" cy="1188720"/>
          </a:xfrm>
          <a:prstGeom prst="line">
            <a:avLst/>
          </a:prstGeom>
          <a:noFill/>
          <a:ln w="19050">
            <a:solidFill>
              <a:srgbClr val="6B64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6647516" y="3803904"/>
            <a:ext cx="1033444" cy="0"/>
          </a:xfrm>
          <a:prstGeom prst="line">
            <a:avLst/>
          </a:prstGeom>
          <a:noFill/>
          <a:ln w="19050">
            <a:solidFill>
              <a:srgbClr val="6B64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6537960" y="3474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: 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92240" y="2615184"/>
            <a:ext cx="2354580" cy="0"/>
          </a:xfrm>
          <a:prstGeom prst="line">
            <a:avLst/>
          </a:prstGeom>
          <a:noFill/>
          <a:ln w="19050">
            <a:solidFill>
              <a:srgbClr val="6B64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8846820" y="2615184"/>
            <a:ext cx="0" cy="356616"/>
          </a:xfrm>
          <a:prstGeom prst="line">
            <a:avLst/>
          </a:prstGeom>
          <a:noFill/>
          <a:ln w="19050">
            <a:solidFill>
              <a:srgbClr val="6B64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7978140" y="23042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: 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0080" y="5989320"/>
            <a:ext cx="9372600" cy="548640"/>
          </a:xfrm>
          <a:prstGeom prst="roundRect">
            <a:avLst>
              <a:gd name="adj" fmla="val 10000"/>
            </a:avLst>
          </a:prstGeom>
          <a:solidFill>
            <a:srgbClr val="F6F2F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8" name="Image 0" descr="/home/claude/icons/database_2B1B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108192"/>
            <a:ext cx="292608" cy="292608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1188720" y="59893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usuário pertence a 1 religião; participa de N grupos; grupos gerenciam N eventos vinculados à religião.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5/9</a:t>
            </a:r>
            <a:endParaRPr lang="en-US" sz="1000" dirty="0"/>
          </a:p>
        </p:txBody>
      </p:sp>
      <p:sp>
        <p:nvSpPr>
          <p:cNvPr id="52" name="Shape 40">
            <a:extLst>
              <a:ext uri="{FF2B5EF4-FFF2-40B4-BE49-F238E27FC236}">
                <a16:creationId xmlns:a16="http://schemas.microsoft.com/office/drawing/2014/main" id="{8806B9B2-2F35-5E31-38E1-9C0C22DC5FDA}"/>
              </a:ext>
            </a:extLst>
          </p:cNvPr>
          <p:cNvSpPr/>
          <p:nvPr/>
        </p:nvSpPr>
        <p:spPr>
          <a:xfrm>
            <a:off x="6492240" y="4992624"/>
            <a:ext cx="155271" cy="0"/>
          </a:xfrm>
          <a:prstGeom prst="line">
            <a:avLst/>
          </a:prstGeom>
          <a:noFill/>
          <a:ln w="19050">
            <a:solidFill>
              <a:srgbClr val="6B64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PRINCIPAL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41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Classes e Regras de Negócio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743200" cy="2048256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5875">
            <a:solidFill>
              <a:srgbClr val="E4DEEF"/>
            </a:solidFill>
            <a:prstDash val="solid"/>
          </a:ln>
          <a:effectLst>
            <a:outerShdw blurRad="76200" dist="25400" dir="5400000" algn="bl" rotWithShape="0">
              <a:srgbClr val="44444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743200" cy="365760"/>
          </a:xfrm>
          <a:prstGeom prst="roundRect">
            <a:avLst>
              <a:gd name="adj" fmla="val 15000"/>
            </a:avLst>
          </a:prstGeom>
          <a:solidFill>
            <a:srgbClr val="2B1B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2075688"/>
            <a:ext cx="2743200" cy="73152"/>
          </a:xfrm>
          <a:prstGeom prst="rect">
            <a:avLst/>
          </a:prstGeom>
          <a:solidFill>
            <a:srgbClr val="2B1B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58368" y="178308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6656" y="2194560"/>
            <a:ext cx="24871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idUsuario: int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76656" y="2441448"/>
            <a:ext cx="24871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nome, senha: String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76656" y="2688336"/>
            <a:ext cx="24871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modoInterface: String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" y="2962656"/>
            <a:ext cx="2560320" cy="0"/>
          </a:xfrm>
          <a:prstGeom prst="line">
            <a:avLst/>
          </a:prstGeom>
          <a:noFill/>
          <a:ln w="9525">
            <a:solidFill>
              <a:srgbClr val="E4D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76656" y="3008376"/>
            <a:ext cx="24871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autenticar()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76656" y="3255264"/>
            <a:ext cx="24871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escolherReligiao()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76656" y="3502152"/>
            <a:ext cx="24871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reservarVaga(Evento)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503920" y="1783080"/>
            <a:ext cx="28803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5875">
            <a:solidFill>
              <a:srgbClr val="E4DEEF"/>
            </a:solidFill>
            <a:prstDash val="solid"/>
          </a:ln>
          <a:effectLst>
            <a:outerShdw blurRad="76200" dist="25400" dir="5400000" algn="bl" rotWithShape="0">
              <a:srgbClr val="44444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503920" y="1783080"/>
            <a:ext cx="2880360" cy="365760"/>
          </a:xfrm>
          <a:prstGeom prst="roundRect">
            <a:avLst>
              <a:gd name="adj" fmla="val 15000"/>
            </a:avLst>
          </a:prstGeom>
          <a:solidFill>
            <a:srgbClr val="5B43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503920" y="2075688"/>
            <a:ext cx="2880360" cy="73152"/>
          </a:xfrm>
          <a:prstGeom prst="rect">
            <a:avLst/>
          </a:prstGeom>
          <a:solidFill>
            <a:srgbClr val="5B43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613648" y="1783080"/>
            <a:ext cx="2660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Religiao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31936" y="2194560"/>
            <a:ext cx="26243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idReligiao: int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631936" y="2441448"/>
            <a:ext cx="26243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nome, origem: String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631936" y="2688336"/>
            <a:ext cx="26243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tipoConteudo: String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95360" y="2962656"/>
            <a:ext cx="2697480" cy="0"/>
          </a:xfrm>
          <a:prstGeom prst="line">
            <a:avLst/>
          </a:prstGeom>
          <a:noFill/>
          <a:ln w="9525">
            <a:solidFill>
              <a:srgbClr val="E4D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8631936" y="3008376"/>
            <a:ext cx="26243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obterRecomendacoesDiarias()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2743200" cy="1801368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15875">
            <a:solidFill>
              <a:srgbClr val="E4DEEF"/>
            </a:solidFill>
            <a:prstDash val="solid"/>
          </a:ln>
          <a:effectLst>
            <a:outerShdw blurRad="76200" dist="25400" dir="5400000" algn="bl" rotWithShape="0">
              <a:srgbClr val="44444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548640" y="4343400"/>
            <a:ext cx="2743200" cy="365760"/>
          </a:xfrm>
          <a:prstGeom prst="roundRect">
            <a:avLst>
              <a:gd name="adj" fmla="val 15000"/>
            </a:avLst>
          </a:prstGeom>
          <a:solidFill>
            <a:srgbClr val="B886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48640" y="4636008"/>
            <a:ext cx="2743200" cy="73152"/>
          </a:xfrm>
          <a:prstGeom prst="rect">
            <a:avLst/>
          </a:prstGeom>
          <a:solidFill>
            <a:srgbClr val="B886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58368" y="434340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" y="4754880"/>
            <a:ext cx="24871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idGrupo: int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76656" y="5001768"/>
            <a:ext cx="24871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nome: String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76656" y="5248656"/>
            <a:ext cx="24871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adminId: int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" y="5522976"/>
            <a:ext cx="2560320" cy="0"/>
          </a:xfrm>
          <a:prstGeom prst="line">
            <a:avLst/>
          </a:prstGeom>
          <a:noFill/>
          <a:ln w="9525">
            <a:solidFill>
              <a:srgbClr val="E4D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76656" y="5568696"/>
            <a:ext cx="24871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hostearLive()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76656" y="5815584"/>
            <a:ext cx="24871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criarEvento(Evento)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503920" y="4343400"/>
            <a:ext cx="28803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5875">
            <a:solidFill>
              <a:srgbClr val="E4DEEF"/>
            </a:solidFill>
            <a:prstDash val="solid"/>
          </a:ln>
          <a:effectLst>
            <a:outerShdw blurRad="76200" dist="25400" dir="5400000" algn="bl" rotWithShape="0">
              <a:srgbClr val="44444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8503920" y="4343400"/>
            <a:ext cx="2880360" cy="365760"/>
          </a:xfrm>
          <a:prstGeom prst="roundRect">
            <a:avLst>
              <a:gd name="adj" fmla="val 15000"/>
            </a:avLst>
          </a:prstGeom>
          <a:solidFill>
            <a:srgbClr val="B23A4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8503920" y="4636008"/>
            <a:ext cx="2880360" cy="73152"/>
          </a:xfrm>
          <a:prstGeom prst="rect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8613648" y="4343400"/>
            <a:ext cx="2660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631936" y="4754880"/>
            <a:ext cx="26243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idEvento: int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631936" y="5001768"/>
            <a:ext cx="26243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data: Date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631936" y="5248656"/>
            <a:ext cx="26243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qtdUsuarios: int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595360" y="5522976"/>
            <a:ext cx="2697480" cy="0"/>
          </a:xfrm>
          <a:prstGeom prst="line">
            <a:avLst/>
          </a:prstGeom>
          <a:noFill/>
          <a:ln w="9525">
            <a:solidFill>
              <a:srgbClr val="E4D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8631936" y="5568696"/>
            <a:ext cx="26243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contabilizarReserva(Usuario)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91840" y="1965960"/>
            <a:ext cx="5212080" cy="0"/>
          </a:xfrm>
          <a:prstGeom prst="line">
            <a:avLst/>
          </a:prstGeom>
          <a:noFill/>
          <a:ln w="19050">
            <a:solidFill>
              <a:srgbClr val="6B64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4846320" y="162763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possui (N:1)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920240" y="3831336"/>
            <a:ext cx="0" cy="512064"/>
          </a:xfrm>
          <a:prstGeom prst="line">
            <a:avLst/>
          </a:prstGeom>
          <a:noFill/>
          <a:ln w="19050">
            <a:solidFill>
              <a:srgbClr val="6B64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493776" y="39410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 (N:N)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429000" y="5641674"/>
            <a:ext cx="0" cy="685973"/>
          </a:xfrm>
          <a:prstGeom prst="line">
            <a:avLst/>
          </a:prstGeom>
          <a:noFill/>
          <a:ln w="19050">
            <a:solidFill>
              <a:srgbClr val="6B64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>
            <a:off x="3429001" y="6327648"/>
            <a:ext cx="4937760" cy="0"/>
          </a:xfrm>
          <a:prstGeom prst="line">
            <a:avLst/>
          </a:prstGeom>
          <a:noFill/>
          <a:ln w="19050">
            <a:solidFill>
              <a:srgbClr val="6B64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8366759" y="5705855"/>
            <a:ext cx="1" cy="621792"/>
          </a:xfrm>
          <a:prstGeom prst="line">
            <a:avLst/>
          </a:prstGeom>
          <a:noFill/>
          <a:ln w="19050">
            <a:solidFill>
              <a:srgbClr val="6B64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4846320" y="636422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(1:N)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944100" y="3337560"/>
            <a:ext cx="0" cy="1005840"/>
          </a:xfrm>
          <a:prstGeom prst="line">
            <a:avLst/>
          </a:prstGeom>
          <a:noFill/>
          <a:ln w="19050">
            <a:solidFill>
              <a:srgbClr val="6B64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8526780" y="37033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2B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vinculado a (N:1)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520440" y="2194560"/>
            <a:ext cx="4846320" cy="3246120"/>
          </a:xfrm>
          <a:prstGeom prst="roundRect">
            <a:avLst>
              <a:gd name="adj" fmla="val 2254"/>
            </a:avLst>
          </a:prstGeom>
          <a:solidFill>
            <a:srgbClr val="2B1B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3794760" y="23957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de Negócio</a:t>
            </a:r>
            <a:endParaRPr lang="en-US" sz="1500" dirty="0"/>
          </a:p>
        </p:txBody>
      </p:sp>
      <p:pic>
        <p:nvPicPr>
          <p:cNvPr id="55" name="Image 0" descr="/home/claude/icons/check_D4A2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472" y="2898648"/>
            <a:ext cx="201168" cy="201168"/>
          </a:xfrm>
          <a:prstGeom prst="rect">
            <a:avLst/>
          </a:prstGeom>
        </p:spPr>
      </p:pic>
      <p:sp>
        <p:nvSpPr>
          <p:cNvPr id="56" name="Text 53"/>
          <p:cNvSpPr/>
          <p:nvPr/>
        </p:nvSpPr>
        <p:spPr>
          <a:xfrm>
            <a:off x="4087368" y="2825496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D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usuário está associado a apenas 1 religião por vez</a:t>
            </a:r>
            <a:endParaRPr lang="en-US" sz="1100" dirty="0"/>
          </a:p>
        </p:txBody>
      </p:sp>
      <p:pic>
        <p:nvPicPr>
          <p:cNvPr id="57" name="Image 1" descr="/home/claude/icons/check_D4A2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472" y="3465576"/>
            <a:ext cx="201168" cy="201168"/>
          </a:xfrm>
          <a:prstGeom prst="rect">
            <a:avLst/>
          </a:prstGeom>
        </p:spPr>
      </p:pic>
      <p:sp>
        <p:nvSpPr>
          <p:cNvPr id="58" name="Text 54"/>
          <p:cNvSpPr/>
          <p:nvPr/>
        </p:nvSpPr>
        <p:spPr>
          <a:xfrm>
            <a:off x="4087368" y="3392424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D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usuário pode participar de N grupos (N:N)</a:t>
            </a:r>
            <a:endParaRPr lang="en-US" sz="1100" dirty="0"/>
          </a:p>
        </p:txBody>
      </p:sp>
      <p:pic>
        <p:nvPicPr>
          <p:cNvPr id="59" name="Image 2" descr="/home/claude/icons/check_D4A2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472" y="4032504"/>
            <a:ext cx="201168" cy="201168"/>
          </a:xfrm>
          <a:prstGeom prst="rect">
            <a:avLst/>
          </a:prstGeom>
        </p:spPr>
      </p:pic>
      <p:sp>
        <p:nvSpPr>
          <p:cNvPr id="60" name="Text 55"/>
          <p:cNvSpPr/>
          <p:nvPr/>
        </p:nvSpPr>
        <p:spPr>
          <a:xfrm>
            <a:off x="4087368" y="395935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D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grupo gerencia N eventos; cada evento pertence a 1 grupo</a:t>
            </a:r>
            <a:endParaRPr lang="en-US" sz="1100" dirty="0"/>
          </a:p>
        </p:txBody>
      </p:sp>
      <p:pic>
        <p:nvPicPr>
          <p:cNvPr id="61" name="Image 3" descr="/home/claude/icons/check_D4A2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472" y="4599432"/>
            <a:ext cx="201168" cy="201168"/>
          </a:xfrm>
          <a:prstGeom prst="rect">
            <a:avLst/>
          </a:prstGeom>
        </p:spPr>
      </p:pic>
      <p:sp>
        <p:nvSpPr>
          <p:cNvPr id="62" name="Text 56"/>
          <p:cNvSpPr/>
          <p:nvPr/>
        </p:nvSpPr>
        <p:spPr>
          <a:xfrm>
            <a:off x="4087368" y="452628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D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evento herda o vínculo de religião do grupo que o criou</a:t>
            </a:r>
            <a:endParaRPr lang="en-US" sz="1100" dirty="0"/>
          </a:p>
        </p:txBody>
      </p:sp>
      <p:sp>
        <p:nvSpPr>
          <p:cNvPr id="63" name="Text 57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6/9</a:t>
            </a:r>
            <a:endParaRPr lang="en-US" sz="1000" dirty="0"/>
          </a:p>
        </p:txBody>
      </p:sp>
      <p:sp>
        <p:nvSpPr>
          <p:cNvPr id="65" name="Shape 46">
            <a:extLst>
              <a:ext uri="{FF2B5EF4-FFF2-40B4-BE49-F238E27FC236}">
                <a16:creationId xmlns:a16="http://schemas.microsoft.com/office/drawing/2014/main" id="{E9E4EAE9-1527-F274-7139-D07FF67C0A58}"/>
              </a:ext>
            </a:extLst>
          </p:cNvPr>
          <p:cNvSpPr/>
          <p:nvPr/>
        </p:nvSpPr>
        <p:spPr>
          <a:xfrm>
            <a:off x="3291842" y="5643284"/>
            <a:ext cx="137158" cy="0"/>
          </a:xfrm>
          <a:prstGeom prst="line">
            <a:avLst/>
          </a:prstGeom>
          <a:noFill/>
          <a:ln w="19050">
            <a:solidFill>
              <a:srgbClr val="6B64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Shape 46">
            <a:extLst>
              <a:ext uri="{FF2B5EF4-FFF2-40B4-BE49-F238E27FC236}">
                <a16:creationId xmlns:a16="http://schemas.microsoft.com/office/drawing/2014/main" id="{3AE9B218-508D-A722-FAAA-ED130B03124D}"/>
              </a:ext>
            </a:extLst>
          </p:cNvPr>
          <p:cNvSpPr/>
          <p:nvPr/>
        </p:nvSpPr>
        <p:spPr>
          <a:xfrm>
            <a:off x="8366760" y="5698839"/>
            <a:ext cx="137159" cy="0"/>
          </a:xfrm>
          <a:prstGeom prst="line">
            <a:avLst/>
          </a:prstGeom>
          <a:noFill/>
          <a:ln w="19050">
            <a:solidFill>
              <a:srgbClr val="6B64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SOFTWARE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41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de Desenvolvimento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85166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F6F2F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home/claude/icons/branch_2B1B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5740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208483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41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Versionamento Semântico (SemVer)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68680" y="2606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numérico para nomear versões — ex.: v1.2.0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20478" y="3045125"/>
            <a:ext cx="1600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2B1B4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711507" y="312121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B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84659" y="369728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2947" y="394417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mudanças que quebram compatibilidade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448867" y="3057202"/>
            <a:ext cx="1600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2B1B4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2448867" y="312121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B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522019" y="369728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540307" y="394417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funcionalidades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186227" y="3057202"/>
            <a:ext cx="1600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2B1B4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4186227" y="312121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B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4259379" y="369728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277667" y="394417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correções de bugs</a:t>
            </a:r>
            <a:endParaRPr lang="en-US" sz="850" dirty="0"/>
          </a:p>
        </p:txBody>
      </p:sp>
      <p:pic>
        <p:nvPicPr>
          <p:cNvPr id="20" name="Image 1" descr="/home/claude/icons/github_2B1B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892040"/>
            <a:ext cx="310896" cy="31089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280160" y="4892040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versionado no GitHub — projeto LivyGod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68680" y="5394960"/>
            <a:ext cx="4754880" cy="0"/>
          </a:xfrm>
          <a:prstGeom prst="line">
            <a:avLst/>
          </a:prstGeom>
          <a:noFill/>
          <a:ln w="12700">
            <a:solidFill>
              <a:srgbClr val="E4D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9"/>
          <p:cNvSpPr/>
          <p:nvPr/>
        </p:nvSpPr>
        <p:spPr>
          <a:xfrm>
            <a:off x="868680" y="55321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alteração relevante é registrada com uma nova tag de versão, permitindo rastrear a evolução técnica do produto ao longo do ciclo de desenvolvimento.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217920" y="1783080"/>
            <a:ext cx="5422392" cy="4343400"/>
          </a:xfrm>
          <a:prstGeom prst="roundRect">
            <a:avLst>
              <a:gd name="adj" fmla="val 1684"/>
            </a:avLst>
          </a:prstGeom>
          <a:solidFill>
            <a:srgbClr val="2B1B4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2" descr="/home/claude/icons/shield_D4A2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2057400"/>
            <a:ext cx="384048" cy="38404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086600" y="208483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 de Código (Code Review)</a:t>
            </a:r>
            <a:endParaRPr lang="en-US" sz="1650" dirty="0"/>
          </a:p>
        </p:txBody>
      </p:sp>
      <p:sp>
        <p:nvSpPr>
          <p:cNvPr id="27" name="Text 22"/>
          <p:cNvSpPr/>
          <p:nvPr/>
        </p:nvSpPr>
        <p:spPr>
          <a:xfrm>
            <a:off x="6537960" y="26060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branch (Branch Protection Rules)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537960" y="3108960"/>
            <a:ext cx="4828032" cy="914400"/>
          </a:xfrm>
          <a:prstGeom prst="roundRect">
            <a:avLst>
              <a:gd name="adj" fmla="val 6000"/>
            </a:avLst>
          </a:prstGeom>
          <a:solidFill>
            <a:srgbClr val="5B4380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9" name="Image 3" descr="/home/claude/icons/check_D4A24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3255264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059168" y="320040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direto na main proibido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7059168" y="34930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alteração entra via Pull Request / Merge Request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6537960" y="4133088"/>
            <a:ext cx="4828032" cy="914400"/>
          </a:xfrm>
          <a:prstGeom prst="roundRect">
            <a:avLst>
              <a:gd name="adj" fmla="val 6000"/>
            </a:avLst>
          </a:prstGeom>
          <a:solidFill>
            <a:srgbClr val="5B4380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3" name="Image 4" descr="/home/claude/icons/check_D4A24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4279392"/>
            <a:ext cx="237744" cy="23774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059168" y="422452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obrigatória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7059168" y="451713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PR exige no mínimo 1 aprovação de outro membro (peer review)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6537960" y="5157216"/>
            <a:ext cx="4828032" cy="914400"/>
          </a:xfrm>
          <a:prstGeom prst="roundRect">
            <a:avLst>
              <a:gd name="adj" fmla="val 6000"/>
            </a:avLst>
          </a:prstGeom>
          <a:solidFill>
            <a:srgbClr val="5B4380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7" name="Image 5" descr="/home/claude/icons/check_D4A24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5303520"/>
            <a:ext cx="237744" cy="23774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059168" y="524865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 bloqueado</a:t>
            </a:r>
            <a:endParaRPr lang="en-US" sz="1250" dirty="0"/>
          </a:p>
        </p:txBody>
      </p:sp>
      <p:sp>
        <p:nvSpPr>
          <p:cNvPr id="39" name="Text 31"/>
          <p:cNvSpPr/>
          <p:nvPr/>
        </p:nvSpPr>
        <p:spPr>
          <a:xfrm>
            <a:off x="7059168" y="554126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cria o PR não pode aprovar o próprio código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GARANTIA DE QUALIDADE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41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Estratégia de Testes e Validação de Qualidade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6F2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68096" y="2011680"/>
            <a:ext cx="502920" cy="502920"/>
          </a:xfrm>
          <a:prstGeom prst="ellipse">
            <a:avLst/>
          </a:prstGeom>
          <a:solidFill>
            <a:srgbClr val="5B438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/home/claude/icons/us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13055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60604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68096" y="290779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Modos “comum” e “facilitado” permitem acessar 80% das funções sem ajuda externa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70832" y="17830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6F2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590288" y="2011680"/>
            <a:ext cx="502920" cy="502920"/>
          </a:xfrm>
          <a:prstGeom prst="ellipse">
            <a:avLst/>
          </a:prstGeom>
          <a:solidFill>
            <a:srgbClr val="B886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/home/claude/icons/bol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13055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60604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90288" y="290779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de chat enviadas e recebidas em menos de 2 segundos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93024" y="17830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6F2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8412480" y="2011680"/>
            <a:ext cx="502920" cy="502920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2" descr="/home/claude/icons/broadcas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1352" y="2130552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60604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12480" y="290779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Lives, áudios e conteúdos assistidos sem travamentos ou perda de dados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B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DE TESTE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11064240" cy="237744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Cenário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 a passo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esperado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B1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#001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417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417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417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Inserir telefone → solicitar código → digitar código SMS/WhatsApp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417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só ocorre com autenticação bem-sucedida, em até 5s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B1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#002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417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Cadastro 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417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religião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417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Acessar perfil → ver lista → selecionar religião → tentar selecionar 2ª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417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mostra todas as religiões e impede cadastro duplo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B1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#003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417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Recomendação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417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417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Abrir app → login → aguardar carregamento da tela inicial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417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Recomendação com ritos/passagens é exibida imediatamente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 15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840480"/>
            <a:ext cx="5486400" cy="5486400"/>
          </a:xfrm>
          <a:prstGeom prst="ellipse">
            <a:avLst/>
          </a:prstGeom>
          <a:solidFill>
            <a:srgbClr val="5B4380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 e Desafios Identificados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D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LivyGod estrutura, em um único produto, o acesso à fé, à comunidade e a conteúdos guiados por IA — unindo requisitos claros, uma arquitetura de dados coesa e um pipeline de desenvolvimento com controle de qualidade desde o versionamento até os testes.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TÉCNICOS IDENTIFICADOS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5B4380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49808" y="3218688"/>
            <a:ext cx="502920" cy="502920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0" descr="/home/claude/icons/robot_2B1B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37560"/>
            <a:ext cx="265176" cy="2651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314553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e neutralidade da IA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417320" y="347472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recomendações relevantes e respeitosas entre diferentes religiões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080760" y="301752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5B4380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6281928" y="3218688"/>
            <a:ext cx="502920" cy="502920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1" descr="/home/claude/icons/lock_2B1B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337560"/>
            <a:ext cx="265176" cy="2651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49440" y="314553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sensíveis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949440" y="347472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informações de crença religiosa com segurança e privacidade reforçadas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443484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5B4380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749808" y="4636008"/>
            <a:ext cx="502920" cy="502920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2" descr="/home/claude/icons/broadcast_2B1B4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754880"/>
            <a:ext cx="265176" cy="2651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456285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Estabilidade em escala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417320" y="489204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lives e áudios sem travamentos com crescimento da base de usuários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080760" y="443484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5B4380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18"/>
          <p:cNvSpPr/>
          <p:nvPr/>
        </p:nvSpPr>
        <p:spPr>
          <a:xfrm>
            <a:off x="6281928" y="4636008"/>
            <a:ext cx="502920" cy="502920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4" name="Image 3" descr="/home/claude/icons/users_2B1B4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754880"/>
            <a:ext cx="265176" cy="2651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49440" y="456285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 da comunidade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949440" y="489204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sustentar o modelo de grupos e eventos (N:N) conforme o produto cresce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48640" y="6172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 — perguntas?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1030</Words>
  <Application>Microsoft Office PowerPoint</Application>
  <PresentationFormat>Widescreen</PresentationFormat>
  <Paragraphs>206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Marlon Bartoli</cp:lastModifiedBy>
  <cp:revision>2</cp:revision>
  <dcterms:created xsi:type="dcterms:W3CDTF">2026-08-25T23:09:28Z</dcterms:created>
  <dcterms:modified xsi:type="dcterms:W3CDTF">2026-08-25T23:23:34Z</dcterms:modified>
</cp:coreProperties>
</file>